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0A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3657600" cy="3657600"/>
          </a:xfrm>
          <a:prstGeom prst="ellipse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00C97B"/>
                </a:solidFill>
                <a:latin typeface="Calibri"/>
              </a:defRPr>
            </a:pPr>
            <a:r>
              <a:t>🌾  AgriML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AI-Powered Fertilizer Recommendation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CB2"/>
                </a:solidFill>
                <a:latin typeface="Calibri"/>
              </a:defRPr>
            </a:pPr>
            <a:r>
              <a:t>Machine Learning  •  Climate-Aware  •  Sustainable Farming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8BDF8"/>
                </a:solidFill>
                <a:latin typeface="Calibri"/>
              </a:defRPr>
            </a:pPr>
            <a:r>
              <a:t>Client-Side • Browser-Based • Zero Server Dependencies</a:t>
            </a:r>
          </a:p>
        </p:txBody>
      </p:sp>
    </p:spTree>
  </p:cSld>
  <p:clrMapOvr>
    <a:masterClrMapping/>
  </p:clrMapOvr>
  <p:transition spd="med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CB2"/>
                </a:solidFill>
                <a:latin typeface="Calibri"/>
              </a:defRPr>
            </a:pPr>
            <a:r>
              <a:t>Why do farmers need intelligent fertilizer recommendations?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⚠️  Over-fertilization wastes money and pollutes groundwater</a:t>
            </a:r>
          </a:p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⚠️  Under-fertilization leads to poor crop yields and food insecurity</a:t>
            </a:r>
          </a:p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⚠️  Nutrient imbalance locks out uptake — too much of one nutrient blocks others</a:t>
            </a:r>
          </a:p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⚠️  Climate variability (rain, heat) changes optimal application timing &amp; quantity</a:t>
            </a:r>
          </a:p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⚠️  Manual soil testing is expensive and infrequent for small-hold farmers</a:t>
            </a:r>
          </a:p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⚠️  No easy access to agronomist expertise in rural India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828800"/>
            <a:ext cx="4846320" cy="41148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C97B"/>
                </a:solidFill>
                <a:latin typeface="Calibri"/>
              </a:defRPr>
            </a:pPr>
            <a:r>
              <a:t>30%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211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of global fertilizer is wasted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C97B"/>
                </a:solidFill>
                <a:latin typeface="Calibri"/>
              </a:defRPr>
            </a:pPr>
            <a:r>
              <a:t>₹8,000 Cr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311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annual loss to Indian farmers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4023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C97B"/>
                </a:solidFill>
                <a:latin typeface="Calibri"/>
              </a:defRPr>
            </a:pPr>
            <a:r>
              <a:t>10 Crops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4124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supported by AgriML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5029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C97B"/>
                </a:solidFill>
                <a:latin typeface="Calibri"/>
              </a:defRPr>
            </a:pPr>
            <a:r>
              <a:t>7 Fertilizer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5130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types covered in the model</a:t>
            </a:r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Our Solution: AgriML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CB2"/>
                </a:solidFill>
                <a:latin typeface="Calibri"/>
              </a:defRPr>
            </a:pPr>
            <a:r>
              <a:t>An end-to-end ML pipeline running entirely in the browser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560320" cy="384048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C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Calibri"/>
              </a:defRPr>
            </a:pPr>
            <a:r>
              <a:t>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C97B"/>
                </a:solidFill>
                <a:latin typeface="Calibri"/>
              </a:defRPr>
            </a:pPr>
            <a:r>
              <a:t>Data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Soil NPK, pH, moisture,</a:t>
            </a:r>
            <a:br/>
            <a:r>
              <a:t>temperature, rainfall,</a:t>
            </a:r>
            <a:br/>
            <a:r>
              <a:t>humidity, crop type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011680"/>
            <a:ext cx="2560320" cy="384048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2860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  <a:latin typeface="Calibri"/>
              </a:defRPr>
            </a:pPr>
            <a:r>
              <a:t>ML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5661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Random Forest Classifier</a:t>
            </a:r>
            <a:br/>
            <a:r>
              <a:t>+ Gradient Boosting</a:t>
            </a:r>
            <a:br/>
            <a:r>
              <a:t>Regressor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2560320" cy="384048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2860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A623"/>
                </a:solidFill>
                <a:latin typeface="Calibri"/>
              </a:defRPr>
            </a:pPr>
            <a:r>
              <a:t>Optimization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5661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Quantity, cost, and</a:t>
            </a:r>
            <a:br/>
            <a:r>
              <a:t>environmental impact</a:t>
            </a:r>
            <a:br/>
            <a:r>
              <a:t>scoring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2011680"/>
            <a:ext cx="2560320" cy="384048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E84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22860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Calibri"/>
              </a:defRPr>
            </a:pPr>
            <a:r>
              <a:t>🌦️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4D8A"/>
                </a:solidFill>
                <a:latin typeface="Calibri"/>
              </a:defRPr>
            </a:pPr>
            <a:r>
              <a:t>Climate Aware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5661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7-day forecast adjusts</a:t>
            </a:r>
            <a:br/>
            <a:r>
              <a:t>timing and quantity</a:t>
            </a:r>
            <a:br/>
            <a:r>
              <a:t>recommendations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08960" y="3931920"/>
            <a:ext cx="274319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943600" y="3931920"/>
            <a:ext cx="274319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778240" y="3931920"/>
            <a:ext cx="27432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CB2"/>
                </a:solidFill>
                <a:latin typeface="Calibri"/>
              </a:defRPr>
            </a:pPr>
            <a:r>
              <a:t>→  Input Soil Data   ⟶   ML Models Predict   ⟶   Optimize Quantity &amp; Cost   ⟶   Climate-Adjusted Output</a:t>
            </a:r>
          </a:p>
        </p:txBody>
      </p:sp>
    </p:spTree>
  </p:cSld>
  <p:clrMapOvr>
    <a:masterClrMapping/>
  </p:clrMapOvr>
  <p:transition spd="med" advClick="1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CB2"/>
                </a:solidFill>
                <a:latin typeface="Calibri"/>
              </a:defRPr>
            </a:pPr>
            <a:r>
              <a:t>12 interconnected modules — 100% client-side JavaScript</a:t>
            </a:r>
          </a:p>
        </p:txBody>
      </p:sp>
      <p:pic>
        <p:nvPicPr>
          <p:cNvPr id="5" name="Picture 4" descr="system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554480"/>
            <a:ext cx="6035040" cy="6035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7373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7B"/>
                </a:solidFill>
                <a:latin typeface="Calibri"/>
              </a:defRPr>
            </a:pPr>
            <a:r>
              <a:t>Data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21408"/>
            <a:ext cx="52120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▸  dataset.js — 2,000 synthetic training samples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▸  preprocessing.js — imputation + normalization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▸  fertilizerModel.js — Random Forest (15 trees)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▸  yieldModel.js — Gradient Boosting (50 stumps)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478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A623"/>
                </a:solidFill>
                <a:latin typeface="Calibri"/>
              </a:defRPr>
            </a:pPr>
            <a:r>
              <a:t>Analysis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52120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▸  climateEngine.js — 7-day weather forecast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▸  optimizer.js — qty, cost &amp; env scoring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▸  riskPredictor.js — 7 risk categories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▸  sustainability.js — 6-component 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58383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Learning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42431"/>
            <a:ext cx="52120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▸  adaptiveLearning.js — correction factors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▸  feedbackLoop.js — farmer feedback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▸  soilHealth.js — degradation tracker</a:t>
            </a:r>
          </a:p>
        </p:txBody>
      </p:sp>
    </p:spTree>
  </p:cSld>
  <p:clrMapOvr>
    <a:masterClrMapping/>
  </p:clrMapOvr>
  <p:transition spd="med" advClick="1"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Model Architecture Flowchart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CB2"/>
                </a:solidFill>
                <a:latin typeface="Calibri"/>
              </a:defRPr>
            </a:pPr>
            <a:r>
              <a:t>Complete 7-stage ML pipeline from data input to recommendation output</a:t>
            </a:r>
          </a:p>
        </p:txBody>
      </p:sp>
      <p:pic>
        <p:nvPicPr>
          <p:cNvPr id="5" name="Picture 4" descr="AgriML_Model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463040"/>
            <a:ext cx="6858000" cy="6858000"/>
          </a:xfrm>
          <a:prstGeom prst="rect">
            <a:avLst/>
          </a:prstGeom>
        </p:spPr>
      </p:pic>
    </p:spTree>
  </p:cSld>
  <p:clrMapOvr>
    <a:masterClrMapping/>
  </p:clrMapOvr>
  <p:transition spd="med" advClick="1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Data Pipeline &amp; Preprocessing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CB2"/>
                </a:solidFill>
                <a:latin typeface="Calibri"/>
              </a:defRPr>
            </a:pPr>
            <a:r>
              <a:t>From raw sensor data to model-ready features</a:t>
            </a:r>
          </a:p>
        </p:txBody>
      </p:sp>
      <p:pic>
        <p:nvPicPr>
          <p:cNvPr id="5" name="Picture 4" descr="data_pipelin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08760"/>
            <a:ext cx="11430000" cy="11430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20040" y="4434840"/>
            <a:ext cx="2148840" cy="233172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C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553712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C97B"/>
                </a:solidFill>
                <a:latin typeface="Calibri"/>
              </a:defRPr>
            </a:pPr>
            <a:r>
              <a:t>1️⃣  Synthetic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5029200"/>
            <a:ext cx="1965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2,000 samples</a:t>
            </a:r>
            <a:br/>
            <a:r>
              <a:t>10 crops × 7 fertilizers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68880" y="5596128"/>
            <a:ext cx="18288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51760" y="4434840"/>
            <a:ext cx="2148840" cy="233172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4553712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8BDF8"/>
                </a:solidFill>
                <a:latin typeface="Calibri"/>
              </a:defRPr>
            </a:pPr>
            <a:r>
              <a:t>2️⃣  Imputation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5029200"/>
            <a:ext cx="1965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Mean/Mode</a:t>
            </a:r>
            <a:br/>
            <a:r>
              <a:t>fill missing values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00600" y="5596128"/>
            <a:ext cx="18288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983479" y="4434840"/>
            <a:ext cx="2148840" cy="233172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19" y="4553712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A623"/>
                </a:solidFill>
                <a:latin typeface="Calibri"/>
              </a:defRPr>
            </a:pPr>
            <a:r>
              <a:t>3️⃣  Normalization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19" y="5029200"/>
            <a:ext cx="1965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Min-Max scaling</a:t>
            </a:r>
            <a:br/>
            <a:r>
              <a:t>to [0, 1] range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32319" y="5596128"/>
            <a:ext cx="18288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15199" y="4434840"/>
            <a:ext cx="2148840" cy="233172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E84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39" y="4553712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4D8A"/>
                </a:solidFill>
                <a:latin typeface="Calibri"/>
              </a:defRPr>
            </a:pPr>
            <a:r>
              <a:t>4️⃣  One-Hot Encode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39" y="5029200"/>
            <a:ext cx="1965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10 binary features</a:t>
            </a:r>
            <a:br/>
            <a:r>
              <a:t>for crop type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64039" y="5596128"/>
            <a:ext cx="18288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646919" y="4434840"/>
            <a:ext cx="2148840" cy="233172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38359" y="4553712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A78BFA"/>
                </a:solidFill>
                <a:latin typeface="Calibri"/>
              </a:defRPr>
            </a:pPr>
            <a:r>
              <a:t>5️⃣  Feature Vector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59" y="5029200"/>
            <a:ext cx="1965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18-D combined</a:t>
            </a:r>
            <a:br/>
            <a:r>
              <a:t>feature array → model</a:t>
            </a:r>
          </a:p>
        </p:txBody>
      </p:sp>
    </p:spTree>
  </p:cSld>
  <p:clrMapOvr>
    <a:masterClrMapping/>
  </p:clrMapOvr>
  <p:transition spd="med" advClick="1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Input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CB2"/>
                </a:solidFill>
                <a:latin typeface="Calibri"/>
              </a:defRPr>
            </a:pPr>
            <a:r>
              <a:t>8 numeric features + 1 categorical feature (crop type)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515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71600"/>
                <a:gridCol w="1097280"/>
                <a:gridCol w="1645920"/>
                <a:gridCol w="43891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0C9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0C9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Unit</a:t>
                      </a:r>
                    </a:p>
                  </a:txBody>
                  <a:tcPr>
                    <a:solidFill>
                      <a:srgbClr val="00C9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Range</a:t>
                      </a:r>
                    </a:p>
                  </a:txBody>
                  <a:tcPr>
                    <a:solidFill>
                      <a:srgbClr val="00C9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C97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Nitrogen (N)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Numeric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kg/ha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0–200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Available nitrogen in soil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Phosphorus (P)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Numeric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kg/ha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0–150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Available phosphorus in soil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Potassium (K)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Numeric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kg/ha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0–120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Available potassium in soil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Numeric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3.0–10.0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Soil acidity / alkalinity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Moisture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Numeric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5–100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Soil moisture percentage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Temperature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Numeric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°C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-5–50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Ambient temperature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Rainfall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Numeric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mm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0–450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Monthly rainfall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Humidity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Numeric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10–100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Air humidity percent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Crop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Categorical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 types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Rice, Wheat, Maize, Cotton, …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 advClick="1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Supported Crop Profiles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CB2"/>
                </a:solidFill>
                <a:latin typeface="Calibri"/>
              </a:defRPr>
            </a:pPr>
            <a:r>
              <a:t>Optimal ranges for each crop used during training and optimization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  <a:gridCol w="1463040"/>
                <a:gridCol w="2468880"/>
              </a:tblGrid>
              <a:tr h="43226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Crop</a:t>
                      </a:r>
                    </a:p>
                  </a:txBody>
                  <a:tcPr>
                    <a:solidFill>
                      <a:srgbClr val="00C9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 (kg/ha)</a:t>
                      </a:r>
                    </a:p>
                  </a:txBody>
                  <a:tcPr>
                    <a:solidFill>
                      <a:srgbClr val="00C9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 (kg/ha)</a:t>
                      </a:r>
                    </a:p>
                  </a:txBody>
                  <a:tcPr>
                    <a:solidFill>
                      <a:srgbClr val="00C9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K (kg/ha)</a:t>
                      </a:r>
                    </a:p>
                  </a:txBody>
                  <a:tcPr>
                    <a:solidFill>
                      <a:srgbClr val="00C9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00C9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Temp (°C)</a:t>
                      </a:r>
                    </a:p>
                  </a:txBody>
                  <a:tcPr>
                    <a:solidFill>
                      <a:srgbClr val="00C9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Yield (t/ha)</a:t>
                      </a:r>
                    </a:p>
                  </a:txBody>
                  <a:tcPr>
                    <a:solidFill>
                      <a:srgbClr val="00C97B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Rice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60–120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30–60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30–60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5.5–7.0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22–35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3.0–8.0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Wheat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80–140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40–70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20–50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6.0–7.5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12–25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2.5–6.5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Maize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80–160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30–60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20–50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5.8–7.0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18–32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3.0–9.0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Cotton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60–120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20–50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20–40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6.0–7.5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20–35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1.5–4.0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Sugarcane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100–200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40–80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40–80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5.5–7.5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22–36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50–120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Soybean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20–50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40–70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20–50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6.0–7.0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20–30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1.5–4.0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Potato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80–150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50–90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60–100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5.0–6.5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15–25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15–40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Tomato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60–130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40–80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50–90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5.5–7.0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18–30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20–60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Groundnut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10–30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30–60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20–40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5.5–7.0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22–33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1.0–3.5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43227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Barley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60–110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30–55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20–45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6.0–8.0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10–22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2.0–5.5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 advClick="1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Model 1: Random Forest Classifier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CB2"/>
                </a:solidFill>
                <a:latin typeface="Calibri"/>
              </a:defRPr>
            </a:pPr>
            <a:r>
              <a:t>Fertilizer type recommendation using ensemble of 15 decision trees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737360"/>
            <a:ext cx="4389120" cy="475488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4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→  Bootstrap Sampling — each tree gets a random sample (with replacement)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→  Random Feature Subset — 60% features per split for diversity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→  Gini Impurity — measures split quality at each node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→  Majority Vote — final prediction aggregates all 15 trees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→  Confidence Score — % of trees agreeing on the top class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→  Class Probabilities — derived from aggregated leaf node counts</a:t>
            </a:r>
          </a:p>
        </p:txBody>
      </p:sp>
      <p:pic>
        <p:nvPicPr>
          <p:cNvPr id="8" name="Picture 7" descr="random_fores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737360"/>
            <a:ext cx="6949440" cy="6949440"/>
          </a:xfrm>
          <a:prstGeom prst="rect">
            <a:avLst/>
          </a:prstGeom>
        </p:spPr>
      </p:pic>
    </p:spTree>
  </p:cSld>
  <p:clrMapOvr>
    <a:masterClrMapping/>
  </p:clrMapOvr>
  <p:transition spd="med" advClick="1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Model 2: Gradient Boosting Regressor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CB2"/>
                </a:solidFill>
                <a:latin typeface="Calibri"/>
              </a:defRPr>
            </a:pPr>
            <a:r>
              <a:t>Yield prediction using 50 sequential decision stumps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737360"/>
            <a:ext cx="4389120" cy="475488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A623"/>
                </a:solidFill>
                <a:latin typeface="Calibri"/>
              </a:defRPr>
            </a:pPr>
            <a:r>
              <a:t>Algorithm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4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→  Initialize prediction with mean of all target yields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→  For each of 50 estimators: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→     a) Compute residuals (actual – current prediction)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→     b) Fit a decision stump (depth 4) on residuals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→     c) Update predictions += learning_rate × stump output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→  Confidence = 1 – (RMSE / target std deviation)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→  Output: yield (t/ha), confidence, RMSE</a:t>
            </a:r>
          </a:p>
        </p:txBody>
      </p:sp>
      <p:pic>
        <p:nvPicPr>
          <p:cNvPr id="8" name="Picture 7" descr="gradient_boosting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737360"/>
            <a:ext cx="6949440" cy="6949440"/>
          </a:xfrm>
          <a:prstGeom prst="rect">
            <a:avLst/>
          </a:prstGeom>
        </p:spPr>
      </p:pic>
    </p:spTree>
  </p:cSld>
  <p:clrMapOvr>
    <a:masterClrMapping/>
  </p:clrMapOvr>
  <p:transition spd="med" advClick="1">
    <p:wheel spokes="4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Fertilizer Types &amp; Nutrient Content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CB2"/>
                </a:solidFill>
                <a:latin typeface="Calibri"/>
              </a:defRPr>
            </a:pPr>
            <a:r>
              <a:t>7 fertilizer types with nutrient composition and cost data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"/>
                <a:gridCol w="914400"/>
                <a:gridCol w="914400"/>
                <a:gridCol w="1645920"/>
                <a:gridCol w="4114800"/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Fertilizer</a:t>
                      </a:r>
                    </a:p>
                  </a:txBody>
                  <a:tcPr>
                    <a:solidFill>
                      <a:srgbClr val="00C9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 (%)</a:t>
                      </a:r>
                    </a:p>
                  </a:txBody>
                  <a:tcPr>
                    <a:solidFill>
                      <a:srgbClr val="00C9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 (%)</a:t>
                      </a:r>
                    </a:p>
                  </a:txBody>
                  <a:tcPr>
                    <a:solidFill>
                      <a:srgbClr val="00C9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K (%)</a:t>
                      </a:r>
                    </a:p>
                  </a:txBody>
                  <a:tcPr>
                    <a:solidFill>
                      <a:srgbClr val="00C9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Cost (₹/kg)</a:t>
                      </a:r>
                    </a:p>
                  </a:txBody>
                  <a:tcPr>
                    <a:solidFill>
                      <a:srgbClr val="00C9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00C97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Urea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46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High N deficiency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DAP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46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 + P deficiency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NPK 10-26-26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 + K deficiency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NPK 20-20-20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Balanced needs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MOP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High K deficiency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SSP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Phosphorus deficiency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Amm. Sulphate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Acidic soils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Fertilizer Selection Logic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CB2"/>
                </a:solidFill>
                <a:latin typeface="Calibri"/>
              </a:defRPr>
            </a:pPr>
            <a:r>
              <a:t>Rule-based training label assignment before Random Forest training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737360"/>
            <a:ext cx="4846320" cy="109728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39" y="1810512"/>
            <a:ext cx="46634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Calibri"/>
              </a:defRPr>
            </a:pPr>
            <a:r>
              <a:t>N &lt; 50  AND  P &lt; 35  AND  K &lt; 30?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91840"/>
            <a:ext cx="2926080" cy="82296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C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364992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✅  NPK 20-20-20</a:t>
            </a:r>
            <a:br/>
            <a:r>
              <a:t>  (Balanced Deficiency)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291840"/>
            <a:ext cx="3657600" cy="82296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3364992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Calibri"/>
              </a:defRPr>
            </a:pPr>
            <a:r>
              <a:t>N &lt; 50  AND  P &lt; 35?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4663440"/>
            <a:ext cx="2377440" cy="82296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C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4736592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✅  DAP (N + 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4663440"/>
            <a:ext cx="3200400" cy="82296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4736592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Calibri"/>
              </a:defRPr>
            </a:pPr>
            <a:r>
              <a:t>Only  N &lt; 50?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5943600"/>
            <a:ext cx="2011680" cy="6858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C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601675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✅  Urea (N only)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5943600"/>
            <a:ext cx="2834640" cy="6858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601675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Calibri"/>
              </a:defRPr>
            </a:pPr>
            <a:r>
              <a:t>K&lt;30→MOP  |  P&lt;35→SSP</a:t>
            </a:r>
            <a:br/>
            <a:r>
              <a:t>pH&lt;5.5→Am.Sul  |  →NPK10-26-26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28803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97B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8803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84D8A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2519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97B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42519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84D8A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55321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97B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55321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84D8A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6400800"/>
            <a:ext cx="11430000" cy="365760"/>
          </a:xfrm>
          <a:prstGeom prst="roundRect">
            <a:avLst/>
          </a:prstGeom>
          <a:solidFill>
            <a:srgbClr val="14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CB2"/>
                </a:solidFill>
                <a:latin typeface="Calibri"/>
              </a:defRPr>
            </a:pPr>
            <a:r>
              <a:t>🔵 Decision node (rule check)   ✅ Green = Leaf node (fertilizer assigned)   🟠 Orange = Multiple outcomes</a:t>
            </a:r>
          </a:p>
        </p:txBody>
      </p:sp>
    </p:spTree>
  </p:cSld>
  <p:clrMapOvr>
    <a:masterClrMapping/>
  </p:clrMapOvr>
  <p:transition spd="med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Optimization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CB2"/>
                </a:solidFill>
                <a:latin typeface="Calibri"/>
              </a:defRPr>
            </a:pPr>
            <a:r>
              <a:t>Calculating optimal quantity, cost, and environmental score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566160" cy="45720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C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C97B"/>
                </a:solidFill>
                <a:latin typeface="Calibri"/>
              </a:defRPr>
            </a:pPr>
            <a:r>
              <a:t>💊 Quantity</a:t>
            </a:r>
            <a:br/>
            <a:r>
              <a:t>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Compute N, P, K deficits vs crop profile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Quantity = max deficit / nutrient % × 100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Capped at 20–500 kg/hectare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Scales by user's land area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828800"/>
            <a:ext cx="3566160" cy="45720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0116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A623"/>
                </a:solidFill>
                <a:latin typeface="Calibri"/>
              </a:defRPr>
            </a:pPr>
            <a:r>
              <a:t>💰 Cost</a:t>
            </a:r>
            <a:br/>
            <a:r>
              <a:t>Estimation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92608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Cost = quantity × cost-per-kg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Per-hectare and total cost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7 fertilizers with real market rates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Supports ₹ INR currency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828800"/>
            <a:ext cx="3566160" cy="45720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E84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0116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84D8A"/>
                </a:solidFill>
                <a:latin typeface="Calibri"/>
              </a:defRPr>
            </a:pPr>
            <a:r>
              <a:t>🌍 Environmental</a:t>
            </a:r>
            <a:br/>
            <a:r>
              <a:t>Impact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92608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Over-application penalty (+15)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High rainfall leaching risk (+20)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Soil acidification risk (+15)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High moisture runoff risk (+10)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Quantity-proportional impact (+0-40)</a:t>
            </a:r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Climate-Aware Decision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CB2"/>
                </a:solidFill>
                <a:latin typeface="Calibri"/>
              </a:defRPr>
            </a:pPr>
            <a:r>
              <a:t>7-day weather forecast modifies fertilizer recommendations in real-time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737360"/>
            <a:ext cx="4389120" cy="475488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Climate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4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🌦️  Generates 7-day weather forecast (temp, rain, humidity, wind)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🌦️  Analyzes next 5 days for application window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🌦️  Heavy rain (&gt;50mm) → reduce quantity 15%, delay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🌦️  Moderate rain (&gt;25mm) → reduce 8%, split doses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🌦️  High temp (&gt;35°C) → apply early morning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🌦️  High humidity (&gt;80%) → monitor fungal risk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🌦️  Best Application Day — lowest risk window scored</a:t>
            </a:r>
          </a:p>
        </p:txBody>
      </p:sp>
      <p:pic>
        <p:nvPicPr>
          <p:cNvPr id="8" name="Picture 7" descr="climate_engin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737360"/>
            <a:ext cx="6949440" cy="6949440"/>
          </a:xfrm>
          <a:prstGeom prst="rect">
            <a:avLst/>
          </a:prstGeom>
        </p:spPr>
      </p:pic>
    </p:spTree>
  </p:cSld>
  <p:clrMapOvr>
    <a:masterClrMapping/>
  </p:clrMapOvr>
  <p:transition spd="med" advClick="1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Risk Prediction Module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CB2"/>
                </a:solidFill>
                <a:latin typeface="Calibri"/>
              </a:defRPr>
            </a:pPr>
            <a:r>
              <a:t>7 risk categories with severity, probability, and actionable recommendations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737360"/>
          <a:ext cx="6400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560320"/>
                <a:gridCol w="155448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Risk Category</a:t>
                      </a:r>
                    </a:p>
                  </a:txBody>
                  <a:tcPr>
                    <a:solidFill>
                      <a:srgbClr val="00C9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Trigger Condition</a:t>
                      </a:r>
                    </a:p>
                  </a:txBody>
                  <a:tcPr>
                    <a:solidFill>
                      <a:srgbClr val="00C9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00C97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Over-Fertilization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NPK excess &gt; 20 kg/ha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High/Med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Nutrient Imbalance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N:P:K ratio gap &gt; 0.6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High/Med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Low Yield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Predicted &lt; 60% of avg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High/Med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 Stress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 outside optimal ±1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High/Med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Drought Stress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Moisture &lt; 25%, Rain &lt; 30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High/Med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Nutrient Leaching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Rain &gt; 200mm, Qty &gt; 100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High/Med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Temperature Stress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Temp outside optimal ±5°C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risk_prediction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37360"/>
            <a:ext cx="502920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Sustainability Index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CB2"/>
                </a:solidFill>
                <a:latin typeface="Calibri"/>
              </a:defRPr>
            </a:pPr>
            <a:r>
              <a:t>6-component weighted scoring system with grades A–F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011680"/>
            <a:ext cx="1783080" cy="41148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C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19456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5176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97B"/>
                </a:solidFill>
                <a:latin typeface="Calibri"/>
              </a:defRPr>
            </a:pPr>
            <a:r>
              <a:t>Fertilizer</a:t>
            </a:r>
            <a:br/>
            <a:r>
              <a:t>Efficiency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3832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5A623"/>
                </a:solidFill>
                <a:latin typeface="Calibri"/>
              </a:defRPr>
            </a:pPr>
            <a:r>
              <a:t>Weight: 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84048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Calibri"/>
              </a:defRPr>
            </a:pPr>
            <a:r>
              <a:t>100 − qty/5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94560" y="2011680"/>
            <a:ext cx="1783080" cy="41148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C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219456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Calibri"/>
              </a:defRPr>
            </a:pPr>
            <a:r>
              <a:t>⚖️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65176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97B"/>
                </a:solidFill>
                <a:latin typeface="Calibri"/>
              </a:defRPr>
            </a:pPr>
            <a:r>
              <a:t>Soil</a:t>
            </a:r>
            <a:br/>
            <a:r>
              <a:t>Balance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3832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5A623"/>
                </a:solidFill>
                <a:latin typeface="Calibri"/>
              </a:defRPr>
            </a:pPr>
            <a:r>
              <a:t>Weight: 15%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84048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Calibri"/>
              </a:defRPr>
            </a:pPr>
            <a:r>
              <a:t>100 − total deficit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2011680"/>
            <a:ext cx="1783080" cy="41148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C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219456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65176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97B"/>
                </a:solidFill>
                <a:latin typeface="Calibri"/>
              </a:defRPr>
            </a:pPr>
            <a:r>
              <a:t>Environmental</a:t>
            </a:r>
            <a:br/>
            <a:r>
              <a:t>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3832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5A623"/>
                </a:solidFill>
                <a:latin typeface="Calibri"/>
              </a:defRPr>
            </a:pPr>
            <a:r>
              <a:t>Weight: 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84048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Calibri"/>
              </a:defRPr>
            </a:pPr>
            <a:r>
              <a:t>100 − env impact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2011680"/>
            <a:ext cx="1783080" cy="41148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C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219456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65176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97B"/>
                </a:solidFill>
                <a:latin typeface="Calibri"/>
              </a:defRPr>
            </a:pPr>
            <a:r>
              <a:t>Water</a:t>
            </a:r>
            <a:br/>
            <a:r>
              <a:t>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3832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5A623"/>
                </a:solidFill>
                <a:latin typeface="Calibri"/>
              </a:defRPr>
            </a:pPr>
            <a:r>
              <a:t>Weight: 15%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84048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Calibri"/>
              </a:defRPr>
            </a:pPr>
            <a:r>
              <a:t>Rain + moisture</a:t>
            </a:r>
            <a:br/>
            <a:r>
              <a:t>+ qty penalties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80" y="2011680"/>
            <a:ext cx="1783080" cy="41148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C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219456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265176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97B"/>
                </a:solidFill>
                <a:latin typeface="Calibri"/>
              </a:defRPr>
            </a:pPr>
            <a:r>
              <a:t>Soil Health</a:t>
            </a:r>
            <a:br/>
            <a:r>
              <a:t>Trend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33832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5A623"/>
                </a:solidFill>
                <a:latin typeface="Calibri"/>
              </a:defRPr>
            </a:pPr>
            <a:r>
              <a:t>Weight: 15%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384048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Calibri"/>
              </a:defRPr>
            </a:pPr>
            <a:r>
              <a:t>From degradation</a:t>
            </a:r>
            <a:br/>
            <a:r>
              <a:t>tracker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75520" y="2011680"/>
            <a:ext cx="1783080" cy="41148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C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66960" y="219456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Calibri"/>
              </a:defRPr>
            </a:pPr>
            <a:r>
              <a:t>♻️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265176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97B"/>
                </a:solidFill>
                <a:latin typeface="Calibri"/>
              </a:defRPr>
            </a:pPr>
            <a:r>
              <a:t>Carbon</a:t>
            </a:r>
            <a:br/>
            <a:r>
              <a:t>Footprint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33832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5A623"/>
                </a:solidFill>
                <a:latin typeface="Calibri"/>
              </a:defRPr>
            </a:pPr>
            <a:r>
              <a:t>Weight: 15%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384048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Calibri"/>
              </a:defRPr>
            </a:pPr>
            <a:r>
              <a:t>100 − (qty × 0.5)/2.5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CB2"/>
                </a:solidFill>
                <a:latin typeface="Calibri"/>
              </a:defRPr>
            </a:pPr>
            <a:r>
              <a:t>Grades:   A (≥80) Excellent   |   B (≥65) Good   |   C (≥50) Fair   |   D (≥35) Poor   |   F (&lt;35) Critical</a:t>
            </a:r>
          </a:p>
        </p:txBody>
      </p:sp>
    </p:spTree>
  </p:cSld>
  <p:clrMapOvr>
    <a:masterClrMapping/>
  </p:clrMapOvr>
  <p:transition spd="med" advClick="1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Soil Health Degradation Tracker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CB2"/>
                </a:solidFill>
                <a:latin typeface="Calibri"/>
              </a:defRPr>
            </a:pPr>
            <a:r>
              <a:t>Linear trend projection to predict nutrient decline over 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737360"/>
            <a:ext cx="4389120" cy="475488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C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7B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4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📈  Records soil N, P, K, pH, moisture for each analysis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📈  Builds time-series history (up to 100 entries)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📈  Linear regression on nutrient values over time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📈  Predicts values 6+ months into the future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📈  Classifies trend: Declining / Stable / Improving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📈  Health score (0–100) from nutrient proximity to optimal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📈  Generates urgency-based recommendations</a:t>
            </a:r>
          </a:p>
        </p:txBody>
      </p:sp>
      <p:pic>
        <p:nvPicPr>
          <p:cNvPr id="8" name="Picture 7" descr="soil_health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737360"/>
            <a:ext cx="6949440" cy="6949440"/>
          </a:xfrm>
          <a:prstGeom prst="rect">
            <a:avLst/>
          </a:prstGeom>
        </p:spPr>
      </p:pic>
    </p:spTree>
  </p:cSld>
  <p:clrMapOvr>
    <a:masterClrMapping/>
  </p:clrMapOvr>
  <p:transition spd="med" advClick="1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Adaptive Learning &amp; Feedback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CB2"/>
                </a:solidFill>
                <a:latin typeface="Calibri"/>
              </a:defRPr>
            </a:pPr>
            <a:r>
              <a:t>Continuous improvement through farmer feedback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737360"/>
            <a:ext cx="4389120" cy="475488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Calibri"/>
              </a:defRPr>
            </a:pPr>
            <a:r>
              <a:t>Adaptive Learning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4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🧠  Records every recommendation (input + predicted output)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🧠  Computes correction factor: actual / predicted yield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🧠  Blends: 70% model + 30% learned correction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🧠  Blend weight grows with more farmer feedback (max 30%)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🧠  Tracks accuracy: within 20% error = 'correct'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🧠  Builds personal crop profiles over time</a:t>
            </a:r>
          </a:p>
        </p:txBody>
      </p:sp>
      <p:pic>
        <p:nvPicPr>
          <p:cNvPr id="8" name="Picture 7" descr="adaptive_learning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737360"/>
            <a:ext cx="6949440" cy="6949440"/>
          </a:xfrm>
          <a:prstGeom prst="rect">
            <a:avLst/>
          </a:prstGeom>
        </p:spPr>
      </p:pic>
    </p:spTree>
  </p:cSld>
  <p:clrMapOvr>
    <a:masterClrMapping/>
  </p:clrMapOvr>
  <p:transition spd="med" advClick="1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Scenario Simulator (What-If Analysis)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CB2"/>
                </a:solidFill>
                <a:latin typeface="Calibri"/>
              </a:defRPr>
            </a:pPr>
            <a:r>
              <a:t>Explore impact of different conditions on yield, cost, and sustainability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515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200400"/>
                <a:gridCol w="4572000"/>
              </a:tblGrid>
              <a:tr h="49638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00C9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Modifications</a:t>
                      </a:r>
                    </a:p>
                  </a:txBody>
                  <a:tcPr>
                    <a:solidFill>
                      <a:srgbClr val="00C9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00C97B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📉 Reduce Fert 30%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N, P, K × 0.7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saving analysis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📈 Increase Fert 30%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N, P, K × 1.3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Yield maximization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🏜️ Drought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Rain=20mm, Moisture=20%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Drought preparedness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🌧️ Heavy Rainfall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Rain=350mm, Moisture=85%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Flood risk planning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🌡️ Heat Wave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Temp=42°C, Humidity=30%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Extreme heat response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✨ Optimal Conditions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All params at ideal values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Best-case benchmarking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486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CB2"/>
                </a:solidFill>
                <a:latin typeface="Calibri"/>
              </a:defRPr>
            </a:pPr>
            <a:r>
              <a:t>Each scenario computes: Δ Yield (t/ha), Δ Cost (₹), Δ Environmental Impact, and generates a natural-language recommendation comparing base vs. scenario.</a:t>
            </a:r>
          </a:p>
        </p:txBody>
      </p:sp>
    </p:spTree>
  </p:cSld>
  <p:clrMapOvr>
    <a:masterClrMapping/>
  </p:clrMapOvr>
  <p:transition spd="med" advClick="1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Explainability &amp; Smart Alerts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CB2"/>
                </a:solidFill>
                <a:latin typeface="Calibri"/>
              </a:defRPr>
            </a:pPr>
            <a:r>
              <a:t>Every recommendation comes with human-readable reasoning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303520" cy="45720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Model Explainability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💡  Feature Importance via correlation-based analysis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💡  Top-3 influencing features shown per recommendation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💡  Nutrient-specific explanations (e.g., 'Low N → use N-rich')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💡  Environmental context notes (rainfall, temperature)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💡  Yield context: above/below average for crop type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💡  Sustainability badges earned (🏆 Efficient, 🌿 Low Impact, …)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303520" cy="45720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A623"/>
                </a:solidFill>
                <a:latin typeface="Calibri"/>
              </a:defRPr>
            </a:pPr>
            <a:r>
              <a:t>Smart Alert System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92240" y="2560320"/>
          <a:ext cx="47548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716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Level</a:t>
                      </a:r>
                    </a:p>
                  </a:txBody>
                  <a:tcPr>
                    <a:solidFill>
                      <a:srgbClr val="00C9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Trigger</a:t>
                      </a:r>
                    </a:p>
                  </a:txBody>
                  <a:tcPr>
                    <a:solidFill>
                      <a:srgbClr val="00C9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Message</a:t>
                      </a:r>
                    </a:p>
                  </a:txBody>
                  <a:tcPr>
                    <a:solidFill>
                      <a:srgbClr val="00C97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🔴 Critical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 &lt; 4.5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Apply lime before fertilizing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🔴 Critical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Moisture &lt; 20%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Irrigate before application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🟡 Warning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 &lt; 5.5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Acidic soil reduces uptake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🟡 Warning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 &gt; 8.5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Apply gypsum or sulfur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🟡 Warning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 &lt; 20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Yellowing leaves likely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🟡 Warning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Temp &gt; 40°C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Apply early AM / evening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🟢 Info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Low deficits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Minimal fertilization needed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 advClick="1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Technology Stack &amp; Key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303520" cy="45720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⚡  Frontend: Vanilla JavaScript (ES6 Modules)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⚡  Styling: CSS3 with Glassmorphism design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⚡  Build: Vite for bundling and dev server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⚡  ML: Custom Random Forest + Gradient Boosting (no libs)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⚡  Storage: localStorage for adaptive learning + history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⚡  Charts: Custom SVG / Canvas charting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⚡  Deployment: Static hosting (Vercel / Netlify)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⚡  Zero server dependencies — runs 100% in browser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303520" cy="45720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C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7B"/>
                </a:solidFill>
                <a:latin typeface="Calibri"/>
              </a:defRPr>
            </a:pPr>
            <a:r>
              <a:t>Key Metrics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92240" y="2560320"/>
          <a:ext cx="47548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C9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0C97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Training Samples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2,000 synthetic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 Dimensions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18 (8 numeric + 10 encoded)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Supported Crops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Fertilizer Classes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RF Trees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GB Estimators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Risk Categories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Sustainability Components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41F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Code Modules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 advClick="1">
    <p:wheel spokes="4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Future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CB2"/>
                </a:solidFill>
                <a:latin typeface="Calibri"/>
              </a:defRPr>
            </a:pPr>
            <a:r>
              <a:t>Planned enhancements for the next phase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651760" cy="41148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C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97B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Real Weather API</a:t>
            </a:r>
            <a:br/>
            <a:r>
              <a:t>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Connect to IMD / OpenWeather</a:t>
            </a:r>
            <a:br/>
            <a:r>
              <a:t>for live forecast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2011680"/>
            <a:ext cx="2651760" cy="41148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651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Satellite Imagery</a:t>
            </a:r>
            <a:br/>
            <a:r>
              <a:t>(NDVI)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6576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Use NDVI from Sentinel-2</a:t>
            </a:r>
            <a:br/>
            <a:r>
              <a:t>for crop health monitoring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2651760" cy="41148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A623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51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Backend + Auth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6576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Node.js/Firebase backend</a:t>
            </a:r>
            <a:br/>
            <a:r>
              <a:t>for data persistence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2011680"/>
            <a:ext cx="2651760" cy="41148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E84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4D8A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651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Mobile App</a:t>
            </a:r>
            <a:br/>
            <a:r>
              <a:t>(React Native)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36576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Offline-capable mobile</a:t>
            </a:r>
            <a:br/>
            <a:r>
              <a:t>app for rural farmers</a:t>
            </a:r>
          </a:p>
        </p:txBody>
      </p:sp>
    </p:spTree>
  </p:cSld>
  <p:clrMapOvr>
    <a:masterClrMapping/>
  </p:clrMapOvr>
  <p:transition spd="med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0" y="457200"/>
            <a:ext cx="5029200" cy="5029200"/>
          </a:xfrm>
          <a:prstGeom prst="ellipse">
            <a:avLst/>
          </a:prstGeom>
          <a:solidFill>
            <a:srgbClr val="0A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C97B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AgriML — Empowering Farmers with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B9CB2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8BDF8"/>
                </a:solidFill>
                <a:latin typeface="Calibri"/>
              </a:defRPr>
            </a:pPr>
            <a:r>
              <a:t>🌾  Smart Fertilizer • 📊 Yield Prediction • 🌦️ Climate Aware • ♻️ Sustainable</a:t>
            </a:r>
          </a:p>
        </p:txBody>
      </p:sp>
    </p:spTree>
  </p:cSld>
  <p:clrMapOvr>
    <a:masterClrMapping/>
  </p:clrMapOvr>
  <p:transition spd="med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